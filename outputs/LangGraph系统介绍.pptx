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53" autoAdjust="0"/>
    <p:restoredTop sz="95360" autoAdjust="0"/>
  </p:normalViewPr>
  <p:slideViewPr>
    <p:cSldViewPr snapToGrid="0" snapToObjects="1" showGuides="1">
      <p:cViewPr varScale="1">
        <p:scale>
          <a:sx n="141" d="100"/>
          <a:sy n="141" d="100"/>
        </p:scale>
        <p:origin x="216" y="17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10/23/24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10/23/24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microsoft.com/office/2007/relationships/hdphoto" Target="../media/hdphoto2.wdp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microsoft.com/office/2007/relationships/hdphoto" Target="../media/hdphoto3.wdp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0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7" descr="abstract image">
            <a:extLst>
              <a:ext uri="{FF2B5EF4-FFF2-40B4-BE49-F238E27FC236}">
                <a16:creationId xmlns:a16="http://schemas.microsoft.com/office/drawing/2014/main" id="{15CF15CF-DF14-67AF-A7B4-E0C282F388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8D457C-4576-B9E1-B827-CECCD7D68C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17019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0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 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843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lvl1pPr>
          </a:lstStyle>
          <a:p>
            <a:r>
              <a:rPr kumimoji="0" lang="en-US" sz="44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Biome" panose="020B0503030204020804" pitchFamily="34" charset="0"/>
              </a:rPr>
              <a:t>Click to add title</a:t>
            </a:r>
            <a:endParaRPr lang="en-US" dirty="0"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1C9FF7-6A99-F749-B814-2C8D99D5A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rgbClr val="00023A"/>
              </a:gs>
              <a:gs pos="100000">
                <a:srgbClr val="E89756">
                  <a:lumMod val="97000"/>
                  <a:lumOff val="3000"/>
                </a:srgbClr>
              </a:gs>
              <a:gs pos="50000">
                <a:srgbClr val="A53F51"/>
              </a:gs>
            </a:gsLst>
            <a:path path="circle">
              <a:fillToRect l="100000" t="100000"/>
            </a:path>
            <a:tileRect r="-100000" b="-100000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Placeholder 5" descr="A person looking at blueprints on a brick wall">
            <a:extLst>
              <a:ext uri="{FF2B5EF4-FFF2-40B4-BE49-F238E27FC236}">
                <a16:creationId xmlns:a16="http://schemas.microsoft.com/office/drawing/2014/main" id="{67D5F276-CD6B-250D-7618-E270FDA3C1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7157" r="27157"/>
          <a:stretch/>
        </p:blipFill>
        <p:spPr>
          <a:xfrm>
            <a:off x="7500938" y="-22225"/>
            <a:ext cx="4714875" cy="688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940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lvl1pPr>
          </a:lstStyle>
          <a:p>
            <a:r>
              <a:rPr kumimoji="0" lang="en-US" sz="44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Biome" panose="020B0503030204020804" pitchFamily="34" charset="0"/>
              </a:rPr>
              <a:t>Click to add title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81F3FF-82E0-A6E9-44F3-5D9572819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rgbClr val="00023A"/>
              </a:gs>
              <a:gs pos="100000">
                <a:srgbClr val="E89756">
                  <a:lumMod val="97000"/>
                  <a:lumOff val="3000"/>
                </a:srgbClr>
              </a:gs>
              <a:gs pos="50000">
                <a:srgbClr val="A53F51"/>
              </a:gs>
            </a:gsLst>
            <a:path path="circle">
              <a:fillToRect l="100000" t="100000"/>
            </a:path>
            <a:tileRect r="-100000" b="-100000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Placeholder 7" descr="A person talking to another person">
            <a:extLst>
              <a:ext uri="{FF2B5EF4-FFF2-40B4-BE49-F238E27FC236}">
                <a16:creationId xmlns:a16="http://schemas.microsoft.com/office/drawing/2014/main" id="{43938C4F-F26B-082E-6C1D-7D09DC1457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0437" r="10437"/>
          <a:stretch/>
        </p:blipFill>
        <p:spPr>
          <a:xfrm>
            <a:off x="0" y="0"/>
            <a:ext cx="4287838" cy="6858000"/>
          </a:xfrm>
          <a:prstGeom prst="rect">
            <a:avLst/>
          </a:prstGeom>
        </p:spPr>
      </p:pic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4CA0E0E9-376E-927D-EBAE-6D979CBE6F4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291586" y="2502365"/>
            <a:ext cx="6192490" cy="32140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9465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1" y="2474811"/>
            <a:ext cx="8849489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2747572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ictur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F03C4-FDB1-00F5-8F67-619C72893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6"/>
            <a:ext cx="7619947" cy="6858000"/>
            <a:chOff x="4575462" y="4136"/>
            <a:chExt cx="7619947" cy="685800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DE9364C-6EE9-E747-F3B5-9A5FA214C666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43581CD-691C-ADD3-0896-F2E1A4E855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60EB671A-33C5-FB75-F27F-0FD17B37F5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8" name="Content Placeholder 14">
              <a:extLst>
                <a:ext uri="{FF2B5EF4-FFF2-40B4-BE49-F238E27FC236}">
                  <a16:creationId xmlns:a16="http://schemas.microsoft.com/office/drawing/2014/main" id="{CC8D74CA-9208-2D40-AB11-204A1C649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6"/>
              <a:ext cx="5652613" cy="68580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1A99F113-D7C6-17BF-B586-3529CFF21E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778153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D4661F0-027E-881F-63A9-13BFE96EB8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8174" y="1511300"/>
            <a:ext cx="8928000" cy="5040000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25312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Picture 0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F795324F-3564-501F-776E-1003E8C38D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35371" y="2488825"/>
            <a:ext cx="6407298" cy="3700454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7" r:id="rId2"/>
    <p:sldLayoutId id="2147483669" r:id="rId3"/>
    <p:sldLayoutId id="2147483682" r:id="rId4"/>
    <p:sldLayoutId id="2147483685" r:id="rId5"/>
    <p:sldLayoutId id="2147483686" r:id="rId6"/>
    <p:sldLayoutId id="2147483683" r:id="rId7"/>
    <p:sldLayoutId id="2147483680" r:id="rId8"/>
    <p:sldLayoutId id="2147483676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LangGraph系统介绍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/>
          <a:p>
            <a:pPr/>
            <a:r>
              <a:t>LangGraph是一种用于自然语言处理（NLP）的图结构表示方法。</a:t>
            </a:r>
          </a:p>
          <a:p>
            <a:pPr/>
            <a:r>
              <a:t>通过将文本转换为图，LangGraph能够捕捉到文本中的复杂关系和结构信息。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主要特点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35" sz="quarter"/>
          </p:nvPr>
        </p:nvSpPr>
        <p:spPr/>
        <p:txBody>
          <a:bodyPr/>
          <a:lstStyle/>
          <a:p/>
          <a:p>
            <a:pPr/>
            <a:r>
              <a:t>**图结构建模**：将文本数据转化为图的形式，节点代表实体或概念，边代表它们之间的关系。</a:t>
            </a:r>
          </a:p>
          <a:p>
            <a:pPr/>
            <a:r>
              <a:t>**多层表示**：支持从词、句到段落不同层级的文本内容进行图结构化处理。</a:t>
            </a:r>
          </a:p>
          <a:p>
            <a:pPr/>
            <a:r>
              <a:t>**灵活性**：适用于多种NLP任务，如语义理解、知识图谱构建等。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应用场景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/>
          <a:p>
            <a:pPr/>
            <a:r>
              <a:t>**信息检索**：提高搜索结果的相关性。</a:t>
            </a:r>
          </a:p>
          <a:p>
            <a:pPr/>
            <a:r>
              <a:t>**问答系统**：增强对问题的理解及答案生成能力。</a:t>
            </a:r>
          </a:p>
          <a:p>
            <a:pPr/>
            <a:r>
              <a:t>**推荐系统**：基于用户行为和偏好建立更准确的推荐模型。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工作流程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  <a:p>
            <a:pPr/>
            <a:r>
              <a:t>**输入处理**：接收原始文本数据作为输入。</a:t>
            </a:r>
          </a:p>
          <a:p>
            <a:pPr/>
            <a:r>
              <a:t>**图构建**：根据预定义规则或算法自动构建相应的图结构。</a:t>
            </a:r>
          </a:p>
          <a:p>
            <a:pPr/>
            <a:r>
              <a:t>**特征提取**：利用图神经网络等技术从图中抽取有用特征。</a:t>
            </a:r>
          </a:p>
          <a:p>
            <a:pPr/>
            <a:r>
              <a:t>**任务执行**：将提取到的特征应用于具体NLP任务中。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技术优势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/>
          <a:p>
            <a:pPr/>
            <a:r>
              <a:t>**高效表达复杂关系**：相比传统向量表示法，更能有效表示文本内部及其间的复杂联系。</a:t>
            </a:r>
          </a:p>
          <a:p>
            <a:pPr/>
            <a:r>
              <a:t>**易于扩展与维护**：图形数据库的支持使得数据管理更加便捷。</a:t>
            </a:r>
          </a:p>
          <a:p>
            <a:pPr/>
            <a:r>
              <a:t>**促进跨领域应用**：结合其他领域的图分析技术，可以开发出更多创新应用。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  <a:p>
            <a:pPr/>
            <a:r>
              <a:t>LangGraph提供了一种新颖且强大的方式来处理和理解自然语言。</a:t>
            </a:r>
          </a:p>
          <a:p>
            <a:pPr/>
            <a:r>
              <a:t>它不仅增强了现有NLP系统的性能，还开启了新的研究方向和发展机遇。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F6E7B4D-FB62-47B7-AAA7-0DEC9938DB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78D9019-7CE1-4B77-8F5D-67F6576598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2E6C21-1752-4E06-9FE3-208D45ADB66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Arial Nova</vt:lpstr>
      <vt:lpstr>Biome</vt:lpstr>
      <vt:lpstr>Calibri</vt:lpstr>
      <vt:lpstr>Wingdings</vt:lpstr>
      <vt:lpstr>Custom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LangGraph系统介绍</dc:title>
  <cp:lastModifiedBy> </cp:lastModifiedBy>
  <cp:revision>34</cp:revision>
  <dcterms:created xsi:type="dcterms:W3CDTF">2024-01-05T14:58:10Z</dcterms:created>
  <dcterms:modified xsi:type="dcterms:W3CDTF">2024-10-23T07:44:39Z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